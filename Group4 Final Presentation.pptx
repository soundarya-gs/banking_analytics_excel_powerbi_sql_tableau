
<file path=[Content_Types].xml><?xml version="1.0" encoding="utf-8"?>
<Types xmlns="http://schemas.openxmlformats.org/package/2006/content-types">
  <Default Extension="bin" ContentType="image/png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74" r:id="rId6"/>
    <p:sldId id="261" r:id="rId7"/>
    <p:sldId id="262" r:id="rId8"/>
    <p:sldId id="275" r:id="rId9"/>
    <p:sldId id="263" r:id="rId10"/>
    <p:sldId id="276" r:id="rId11"/>
    <p:sldId id="264" r:id="rId12"/>
    <p:sldId id="265" r:id="rId13"/>
    <p:sldId id="266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6C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25FC6-7DD3-42D7-A9F6-F6E633CBE32E}" v="348" dt="2025-08-09T07:27:20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DF5A3-3211-4082-8259-18E64F6CC00B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2E3D3-D19F-4D42-98DE-AAC3549D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33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2E3D3-D19F-4D42-98DE-AAC3549D1D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54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2E3D3-D19F-4D42-98DE-AAC3549D1D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D8F4-7B81-AD10-EAF7-4F6729AC2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683B1-465E-58DD-FBCB-7D1D73CFA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9917-2AF3-2F0A-A43D-330BCAA4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64291-53B6-37F1-2442-B2913BC2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8C5FE-C053-670E-72E2-7D71E496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1B46C-3F6B-CBDA-4154-ACE333958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2" r="5296" b="7515"/>
          <a:stretch>
            <a:fillRect/>
          </a:stretch>
        </p:blipFill>
        <p:spPr>
          <a:xfrm>
            <a:off x="9452921" y="137651"/>
            <a:ext cx="2473607" cy="6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9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2537-9CCE-0B47-4851-80E17B95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E052-184D-F887-3F01-7FD1D7316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468EE-B2CF-14EE-9505-18BB3B02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5A7D-0C01-E7F0-B12A-BBB9D0C1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C401-891B-B398-FEE6-D39F4838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41AD-40C2-F7A2-16B7-F96D34F9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D2595-5669-AFCA-405D-CAA73D871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9E4C0-9CCE-ED01-81EA-895675F0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54A4-A7D0-34BA-55C8-204D8213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0AD86-F5BF-662E-2C7A-091E13B0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E8B1-6E7E-0067-8A45-08221369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7E30-F8E6-8A00-75EB-AFFA1C081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F1C9A-A839-EA78-5C49-E04EC455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79F11-159D-1EB6-2A33-8BBED465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B7CA-FA90-3968-508F-5F59368D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F6C0F-7B47-3726-822A-62F386F7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E9BF-99AE-D68A-72FF-EEC973CF1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4EAEC-1D1C-E408-ADD9-D803BB3F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0D244-724A-444E-4992-1AFE4B044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9882C-E3F6-D201-E0CE-C85C8E96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DB4E0-16C6-F1CF-3BAF-EC474463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3791F-39AE-BAF7-8010-8FA448EF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B38D9-851B-A2DD-2A5A-8006A903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9B52E-36DD-01D9-207C-BDAEE26D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2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57F7-8CE6-B323-B41A-BB16B1A8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884D5-F0A5-8815-252A-16F442F73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19363-250F-8300-6A58-E1B57BA1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52633-C01D-EE56-F277-B6150B29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80EEA-2558-B166-A4A3-4FA7E6F845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2" r="5296" b="7515"/>
          <a:stretch>
            <a:fillRect/>
          </a:stretch>
        </p:blipFill>
        <p:spPr>
          <a:xfrm>
            <a:off x="9452921" y="137651"/>
            <a:ext cx="2473607" cy="6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2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4F6B5-4A0F-DB66-AEB8-6E3CB5E8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C2FCD-A79E-2215-4B1E-FA134CF5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D1DAD-5C1E-6278-072C-1A6871A1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A88F-C40C-C064-1FFB-C028F8CF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4A57A-F596-3113-D40A-2AD38AA2A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BE98E-6F6D-E5C5-5395-3C56EFAD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13F7-2F2B-30C2-BB36-E2F0ECDD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A4302-C60C-FFB2-1F53-2B89F1DD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F2705-4873-4E06-ACAC-4EC0A556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0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1DDE-3C9C-A64A-57E7-D5DA33CE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E6F69-6EC3-9970-B2D9-A3240DCD6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1C2B-0593-E611-E305-29059D07A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66F7F-3D4B-F762-1C20-41FAF0C5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4A1B4-1612-5007-119B-B40AC345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9D66E-24B6-CE6F-B7D4-3FA855E7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F68C-4DE5-A3A3-F1CA-A0D7BB9D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35AAB-370D-AF1D-B47C-C12E165B2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C907-424C-DA5E-8E42-E420BB06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F31EF-3EAF-0339-4E20-D6800E95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48EC9-A294-8B09-EE3B-699D521A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4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34C9B-3BE0-42CC-FC22-0D7412A37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D38D1-3463-3861-FAE7-2CB70E1ED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A7B32-0302-21C2-DE52-06BE3333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D6026-FE49-1F3B-5D34-4D50FA32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1AC3-AE8E-B374-6FD1-681C4783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5AB9B-078E-EFE4-4C07-316971FA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B92DE-073D-01BF-4C6F-1097521D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843EC-0966-34A9-845B-17ECB22A3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C1978-3C25-49F6-AF81-67214ED32BA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E73D-F75B-F80F-3587-98EB40DE1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03292-683A-FD90-48B1-F427663FC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F5724-60D9-4921-B21F-E12516B90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9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7" Type="http://schemas.openxmlformats.org/officeDocument/2006/relationships/image" Target="../media/image13.svg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7" Type="http://schemas.openxmlformats.org/officeDocument/2006/relationships/image" Target="../media/image23.jpeg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3B6019-9B12-9E1B-80D1-9DE107C22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2" r="5296" b="7515"/>
          <a:stretch>
            <a:fillRect/>
          </a:stretch>
        </p:blipFill>
        <p:spPr>
          <a:xfrm>
            <a:off x="9452921" y="137651"/>
            <a:ext cx="2473607" cy="612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D33531-0077-0775-85ED-8B5FE5B734F2}"/>
              </a:ext>
            </a:extLst>
          </p:cNvPr>
          <p:cNvSpPr txBox="1"/>
          <p:nvPr/>
        </p:nvSpPr>
        <p:spPr>
          <a:xfrm>
            <a:off x="456700" y="2017075"/>
            <a:ext cx="60960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lnSpc>
                <a:spcPts val="7128"/>
              </a:lnSpc>
              <a:defRPr/>
            </a:pPr>
            <a:r>
              <a:rPr lang="en-US" sz="6600" spc="-132" dirty="0">
                <a:solidFill>
                  <a:srgbClr val="FF0000"/>
                </a:solidFill>
                <a:latin typeface="IBM Plex Serif SemiBold" panose="00000700000000000000" pitchFamily="2" charset="0"/>
              </a:rPr>
              <a:t>DBS </a:t>
            </a:r>
            <a:r>
              <a:rPr lang="en-US" sz="6600" spc="-13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 Banking Analytics </a:t>
            </a:r>
            <a:endParaRPr kumimoji="0" lang="en-US" sz="6600" b="0" i="0" u="none" strike="noStrike" kern="1200" cap="none" spc="-132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21069C-3DA4-8D6D-6D00-02ED182481EF}"/>
              </a:ext>
            </a:extLst>
          </p:cNvPr>
          <p:cNvGrpSpPr/>
          <p:nvPr/>
        </p:nvGrpSpPr>
        <p:grpSpPr>
          <a:xfrm>
            <a:off x="456700" y="5742039"/>
            <a:ext cx="5928602" cy="840006"/>
            <a:chOff x="456699" y="5515427"/>
            <a:chExt cx="6915005" cy="10666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BE9307-18F0-58A1-0A3C-C8505F61E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699" y="5537223"/>
              <a:ext cx="2449991" cy="1044822"/>
            </a:xfrm>
            <a:prstGeom prst="rect">
              <a:avLst/>
            </a:prstGeom>
          </p:spPr>
        </p:pic>
        <p:pic>
          <p:nvPicPr>
            <p:cNvPr id="10" name="Picture 2" descr="Image result for tableau">
              <a:extLst>
                <a:ext uri="{FF2B5EF4-FFF2-40B4-BE49-F238E27FC236}">
                  <a16:creationId xmlns:a16="http://schemas.microsoft.com/office/drawing/2014/main" id="{73281C4E-6C7A-D536-EAC7-A090F6AC2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2284" y="5515427"/>
              <a:ext cx="1486964" cy="86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MySQL round logo transparent PNG - StickPNG">
              <a:extLst>
                <a:ext uri="{FF2B5EF4-FFF2-40B4-BE49-F238E27FC236}">
                  <a16:creationId xmlns:a16="http://schemas.microsoft.com/office/drawing/2014/main" id="{B212A368-F668-B73F-25A0-D057817071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119" y="5611150"/>
              <a:ext cx="766213" cy="766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logo of a company&#10;&#10;AI-generated content may be incorrect.">
              <a:extLst>
                <a:ext uri="{FF2B5EF4-FFF2-40B4-BE49-F238E27FC236}">
                  <a16:creationId xmlns:a16="http://schemas.microsoft.com/office/drawing/2014/main" id="{386A89B7-229E-51C6-1C46-45263F5C7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0342" y="5706253"/>
              <a:ext cx="741362" cy="741362"/>
            </a:xfrm>
            <a:prstGeom prst="rect">
              <a:avLst/>
            </a:prstGeom>
          </p:spPr>
        </p:pic>
      </p:grpSp>
      <p:pic>
        <p:nvPicPr>
          <p:cNvPr id="14" name="layoutShapeInnerChild6">
            <a:extLst>
              <a:ext uri="{FF2B5EF4-FFF2-40B4-BE49-F238E27FC236}">
                <a16:creationId xmlns:a16="http://schemas.microsoft.com/office/drawing/2014/main" id="{F6375B94-91E5-6923-0580-2276B14ED76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85000"/>
            <a:extLst>
              <a:ext uri="{E11DE8FF-98C6-4FE3-9008-58D275F4E5F6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7338995" y="670145"/>
            <a:ext cx="4853504" cy="575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5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ue team names">
            <a:extLst>
              <a:ext uri="{FF2B5EF4-FFF2-40B4-BE49-F238E27FC236}">
                <a16:creationId xmlns:a16="http://schemas.microsoft.com/office/drawing/2014/main" id="{F9E09B0C-51A7-6A84-B239-2F71AD205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"/>
          <a:stretch>
            <a:fillRect/>
          </a:stretch>
        </p:blipFill>
        <p:spPr bwMode="auto">
          <a:xfrm>
            <a:off x="0" y="8365"/>
            <a:ext cx="12192000" cy="686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4D5FDC-22AD-5326-F8E1-E15E4647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Group details </a:t>
            </a:r>
          </a:p>
        </p:txBody>
      </p:sp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8C6BA754-5F00-A45E-B622-665923D61F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5B4F3C-DC8E-2907-D662-735EB44E98B7}"/>
              </a:ext>
            </a:extLst>
          </p:cNvPr>
          <p:cNvSpPr txBox="1"/>
          <p:nvPr/>
        </p:nvSpPr>
        <p:spPr>
          <a:xfrm>
            <a:off x="1049350" y="1210946"/>
            <a:ext cx="4002709" cy="455041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solidFill>
                  <a:schemeClr val="accent1"/>
                </a:solidFill>
                <a:latin typeface="Century Gothic" panose="020B0502020202020204" pitchFamily="34" charset="0"/>
              </a:rPr>
              <a:t>Group 4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Mercy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Ranjith Kumar R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Rohit Chaubelal Sahu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Chaitra Turmari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Soundarya G S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Susmita Das</a:t>
            </a:r>
          </a:p>
        </p:txBody>
      </p:sp>
    </p:spTree>
    <p:extLst>
      <p:ext uri="{BB962C8B-B14F-4D97-AF65-F5344CB8AC3E}">
        <p14:creationId xmlns:p14="http://schemas.microsoft.com/office/powerpoint/2010/main" val="390556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BC3B-E6A0-3AD4-1D17-CDFA5C4F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1DBC910-9CF7-3E67-2946-305FBF272AF3}"/>
              </a:ext>
            </a:extLst>
          </p:cNvPr>
          <p:cNvSpPr/>
          <p:nvPr/>
        </p:nvSpPr>
        <p:spPr>
          <a:xfrm>
            <a:off x="1021768" y="5022087"/>
            <a:ext cx="1317438" cy="13568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0A0E00-41B8-1779-C930-3105FE9389CE}"/>
              </a:ext>
            </a:extLst>
          </p:cNvPr>
          <p:cNvSpPr/>
          <p:nvPr/>
        </p:nvSpPr>
        <p:spPr>
          <a:xfrm>
            <a:off x="1021768" y="2910348"/>
            <a:ext cx="1317438" cy="13568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C877A-1B6A-32B7-D792-9A2B8F98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Summary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3D5FC0F4-DAFB-94BB-3A16-513817A0CD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BADB56BA-A670-26F2-42AD-25493E8373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8A0825-CE0B-8BB2-6FD3-940C8E12A8BA}"/>
              </a:ext>
            </a:extLst>
          </p:cNvPr>
          <p:cNvSpPr txBox="1"/>
          <p:nvPr/>
        </p:nvSpPr>
        <p:spPr>
          <a:xfrm>
            <a:off x="1026296" y="1157487"/>
            <a:ext cx="10388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built dashboards in Excel, Tableau, and Power BI to track the full journey of banking operations, client activity, loans, and transactions.</a:t>
            </a:r>
          </a:p>
          <a:p>
            <a:r>
              <a:rPr lang="en-US" dirty="0"/>
              <a:t>It shows all key KPIs in one place, making it easy to monitor loan performance, client retention, repayment behavior, and transaction trends, along with high-risk activities and branch performance.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4D219-2A77-53CE-E8D0-46C4334432DF}"/>
              </a:ext>
            </a:extLst>
          </p:cNvPr>
          <p:cNvSpPr txBox="1"/>
          <p:nvPr/>
        </p:nvSpPr>
        <p:spPr>
          <a:xfrm>
            <a:off x="2804999" y="2675959"/>
            <a:ext cx="8098976" cy="423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Objectives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Combine banking, loan, repayment, and transaction data into one clear view.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Identify high-performing branches, profitable products, and top clients.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 banks to make faster, data-backed decisions on lending, collections, and branch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Provide accessible insights across Excel, Tableau, and Power BI for different teams.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decision-making by identifying risk areas and growth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Faster action on delinquent loans or suspicious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 access to KPIs for all teams, in their preferred BI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More accurate financial and operational forecasting.</a:t>
            </a:r>
          </a:p>
          <a:p>
            <a:pPr>
              <a:lnSpc>
                <a:spcPct val="150000"/>
              </a:lnSpc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Graphic 9" descr="Bullseye outline">
            <a:extLst>
              <a:ext uri="{FF2B5EF4-FFF2-40B4-BE49-F238E27FC236}">
                <a16:creationId xmlns:a16="http://schemas.microsoft.com/office/drawing/2014/main" id="{0966ABE2-6843-6FD7-1721-5B90BDFFB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487" y="2958773"/>
            <a:ext cx="1260000" cy="1260000"/>
          </a:xfrm>
          <a:prstGeom prst="rect">
            <a:avLst/>
          </a:prstGeom>
        </p:spPr>
      </p:pic>
      <p:pic>
        <p:nvPicPr>
          <p:cNvPr id="12" name="Graphic 11" descr="Logarithmic Graph outline">
            <a:extLst>
              <a:ext uri="{FF2B5EF4-FFF2-40B4-BE49-F238E27FC236}">
                <a16:creationId xmlns:a16="http://schemas.microsoft.com/office/drawing/2014/main" id="{D480E748-FAAF-A338-F01B-5C2F8F24B3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487" y="5070513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7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23CE-74B1-24DB-0DC9-DD58866E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B0BA-F074-DC28-3FB9-3BF7D77F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KPIs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6A03BF-91A2-4D17-5438-8EB40916096A}"/>
              </a:ext>
            </a:extLst>
          </p:cNvPr>
          <p:cNvCxnSpPr>
            <a:cxnSpLocks/>
          </p:cNvCxnSpPr>
          <p:nvPr/>
        </p:nvCxnSpPr>
        <p:spPr>
          <a:xfrm>
            <a:off x="6096000" y="1188360"/>
            <a:ext cx="0" cy="5301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AC6BB66-9E28-133D-D860-402E007E32ED}"/>
              </a:ext>
            </a:extLst>
          </p:cNvPr>
          <p:cNvSpPr txBox="1"/>
          <p:nvPr/>
        </p:nvSpPr>
        <p:spPr>
          <a:xfrm>
            <a:off x="1" y="1198508"/>
            <a:ext cx="6095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-84" dirty="0">
                <a:solidFill>
                  <a:schemeClr val="accent1"/>
                </a:solidFill>
                <a:latin typeface="Century Gothic" panose="020B0502020202020204" pitchFamily="34" charset="0"/>
              </a:rPr>
              <a:t>Banking Dashboard</a:t>
            </a: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C90B2-CF4F-A6E7-028C-E99DA6C60A28}"/>
              </a:ext>
            </a:extLst>
          </p:cNvPr>
          <p:cNvSpPr txBox="1"/>
          <p:nvPr/>
        </p:nvSpPr>
        <p:spPr>
          <a:xfrm>
            <a:off x="6096001" y="1198508"/>
            <a:ext cx="5987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-84" dirty="0">
                <a:solidFill>
                  <a:schemeClr val="accent1"/>
                </a:solidFill>
                <a:latin typeface="Century Gothic" panose="020B0502020202020204" pitchFamily="34" charset="0"/>
              </a:rPr>
              <a:t>Debit &amp; Credit Dashboard</a:t>
            </a: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layoutShapeInnerChild9">
            <a:extLst>
              <a:ext uri="{FF2B5EF4-FFF2-40B4-BE49-F238E27FC236}">
                <a16:creationId xmlns:a16="http://schemas.microsoft.com/office/drawing/2014/main" id="{EB9FC16C-A293-90EB-2878-A594DCCA26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16" name="layoutShapeInnerChild7">
            <a:extLst>
              <a:ext uri="{FF2B5EF4-FFF2-40B4-BE49-F238E27FC236}">
                <a16:creationId xmlns:a16="http://schemas.microsoft.com/office/drawing/2014/main" id="{E7E0FEB4-4641-99E7-E46A-7669F7E69F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D54BE3-ED1D-E21B-9592-7A3150B69294}"/>
              </a:ext>
            </a:extLst>
          </p:cNvPr>
          <p:cNvSpPr txBox="1"/>
          <p:nvPr/>
        </p:nvSpPr>
        <p:spPr>
          <a:xfrm>
            <a:off x="560446" y="1628013"/>
            <a:ext cx="5191419" cy="348146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lvl="0" indent="-285750" defTabSz="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1400" dirty="0"/>
              <a:t>Total Clients / Active Clients / New Clients</a:t>
            </a:r>
            <a:endParaRPr lang="en-US" sz="14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lvl="0" indent="-285750" defTabSz="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1400" dirty="0"/>
              <a:t>Client Retention Rate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Total Loan Amount Disbursed &amp; Average Loan Size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Principal Recovery Rate &amp; Interest Income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Default Rate, Delinquency Rate, On-Time Repayment 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Loan Distribution by Branch &amp; Branch Performance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Product-wise Loan Volume &amp; Profitability</a:t>
            </a:r>
          </a:p>
          <a:p>
            <a:pPr lvl="0" defTabSz="457200">
              <a:lnSpc>
                <a:spcPct val="200000"/>
              </a:lnSpc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6D058-8F08-6686-43F1-A1B9B6AD4BD9}"/>
              </a:ext>
            </a:extLst>
          </p:cNvPr>
          <p:cNvSpPr txBox="1"/>
          <p:nvPr/>
        </p:nvSpPr>
        <p:spPr>
          <a:xfrm>
            <a:off x="6292850" y="1628013"/>
            <a:ext cx="5632847" cy="433266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Total Credit Amount &amp; Total Debit Amount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Credit-to-Debit Ratio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Net Transaction Amount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Account Activity Ratio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Transactions per Day/Week/Month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Total Transaction Amount by Branch / Bank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Transaction Method Distribution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Branch Transaction Growth 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High-Risk Transaction Flag &amp; Suspicious Transaction Frequency</a:t>
            </a:r>
          </a:p>
          <a:p>
            <a:pPr marL="285750" marR="0" lvl="0" indent="-285750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C446-964D-E814-47DD-E61F555E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6B59-E0C3-9F86-8F5B-40A106E1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Excel Dashboard (1/2) 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82E385BB-39B6-F415-40E5-3FD1A7884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D447D3F8-93D1-453B-83F5-75E1A01F88B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CEB91B1F-94B1-D96C-D72D-3435E9F1B1B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3066F2-34F2-BCDC-788A-22A28501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012" y="1350713"/>
            <a:ext cx="10487753" cy="521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9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E14E-214F-6216-16E4-10C376A2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BCAE-CBB5-146B-E79E-1C649DB3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Excel Dashboard (2/2)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5E4D9635-16C2-E8B4-2D63-9379649370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0BF52085-96A2-CBF3-9BF2-EFECEEF143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1E176-2CFA-3A22-D03B-82F2DD898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71" y="1303202"/>
            <a:ext cx="10686606" cy="42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0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1EE2-ADC5-67FD-1DF9-8AB5307B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DB67-7E37-E1FE-748F-945C0278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Tableau Dashboard (1/2)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0164CABF-7E59-CFA4-0C15-3E5B64C26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BA6633FD-020A-C9F4-76FF-A90474ABA9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F56E2-E9BB-A07F-68EE-D45683061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13" y="1034360"/>
            <a:ext cx="11002296" cy="561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4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5A68-0289-79AB-E5A7-E2AF96D1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6DB7-CE52-61CA-D56E-1D3B8469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Tableau Dashboard (2/2)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C009E132-C5AC-B752-3F71-0A12F9DB60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C9D56F1F-FD9F-530D-1E76-AB147003C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6" name="Picture 5" descr="A screenshot of a credit and debit dashboard">
            <a:extLst>
              <a:ext uri="{FF2B5EF4-FFF2-40B4-BE49-F238E27FC236}">
                <a16:creationId xmlns:a16="http://schemas.microsoft.com/office/drawing/2014/main" id="{B815BC73-D515-95A6-E83D-D1D4E428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2" y="1034360"/>
            <a:ext cx="10312400" cy="526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258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05B2-4C8C-0423-FEDD-E2686AC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C25F-34AA-AFE6-07FA-211019B4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Power BI Dashboard (1/2)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E2C0A99A-0232-67C6-B012-FFBBED34E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9271B6CF-A2F4-A4F5-87C2-4E72283D9E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8F98A-91D3-6F4B-E332-8816F5E5F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09" y="1183022"/>
            <a:ext cx="10120907" cy="508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5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85FF-B851-1E8B-E0F7-D447D123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1E9E-09C0-919B-18EE-E8DAEA97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Power BI Dashboard (2/2)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BA10B32E-6089-EE1A-DB40-C0F80A8EB0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4D3565C6-BF04-3E95-B814-4C2DC914BB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51F72-CE35-FD48-CBA4-2B96343CA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63" y="1181891"/>
            <a:ext cx="9926101" cy="505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3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F553-D497-F6BC-1907-2B99D033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75FA-E433-8C5B-57AB-FDA72F7E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SQL Query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0AF8766C-285A-E713-5FBA-D7DAB3BAC0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2EC1F15F-A27F-8994-B346-86BBC763B7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9B1615-95E7-48A4-A3D7-EB7C95814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059" y="3411800"/>
            <a:ext cx="6013040" cy="146065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603C5B-6F82-ECE1-E3E9-882C96C84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0" y="3564200"/>
            <a:ext cx="3847888" cy="2391779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3B0A70-A582-1412-784E-5BEF6CB507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2" y="1125800"/>
            <a:ext cx="4105487" cy="22860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74D58B-097F-1B30-C072-A975BFAE2C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767" y="1125800"/>
            <a:ext cx="4911624" cy="14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8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7A0C-A4F9-A851-9A02-C53DABE9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D9E2-2801-53FF-23F4-C6125A67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Takeaways - KPIs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AD27256D-3CCE-E22E-8ED1-7CD7409A8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FD820583-0C0A-5A1D-F6F6-DE3D124D59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D7E1E-7B79-A966-2147-DDED7091F16C}"/>
              </a:ext>
            </a:extLst>
          </p:cNvPr>
          <p:cNvSpPr txBox="1"/>
          <p:nvPr/>
        </p:nvSpPr>
        <p:spPr>
          <a:xfrm>
            <a:off x="1009404" y="1198508"/>
            <a:ext cx="6095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84" dirty="0">
                <a:solidFill>
                  <a:schemeClr val="accent1"/>
                </a:solidFill>
                <a:latin typeface="Century Gothic" panose="020B0502020202020204" pitchFamily="34" charset="0"/>
              </a:rPr>
              <a:t>for Banking Dashboard</a:t>
            </a: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8CF87-206F-48A2-7E1A-F1F59316CBB0}"/>
              </a:ext>
            </a:extLst>
          </p:cNvPr>
          <p:cNvSpPr txBox="1"/>
          <p:nvPr/>
        </p:nvSpPr>
        <p:spPr>
          <a:xfrm>
            <a:off x="706584" y="1932709"/>
            <a:ext cx="4802749" cy="4304192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Total Clients-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65K+ overall.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Active Clients-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36K+; steady growth in new clients.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Loan Disbursed-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₹713.5M total.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Recovery-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87% principal recovery, 72% on-time repayments.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Top Branches-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176-DBS, Dhuri, and Mathura lead in performance.</a:t>
            </a:r>
          </a:p>
          <a:p>
            <a:pPr marL="457200" marR="0" lvl="0" indent="-457200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253585-74D8-4D5E-5B48-C5B13CFF3BDC}"/>
              </a:ext>
            </a:extLst>
          </p:cNvPr>
          <p:cNvCxnSpPr>
            <a:cxnSpLocks/>
          </p:cNvCxnSpPr>
          <p:nvPr/>
        </p:nvCxnSpPr>
        <p:spPr>
          <a:xfrm>
            <a:off x="5932715" y="1188360"/>
            <a:ext cx="0" cy="5301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E3C0407-5174-451B-44D3-109AFE146186}"/>
              </a:ext>
            </a:extLst>
          </p:cNvPr>
          <p:cNvSpPr txBox="1"/>
          <p:nvPr/>
        </p:nvSpPr>
        <p:spPr>
          <a:xfrm>
            <a:off x="6193974" y="1198508"/>
            <a:ext cx="5987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84" dirty="0">
                <a:solidFill>
                  <a:schemeClr val="accent1"/>
                </a:solidFill>
                <a:latin typeface="Century Gothic" panose="020B0502020202020204" pitchFamily="34" charset="0"/>
              </a:rPr>
              <a:t>for Debit &amp; Credit Dashboard</a:t>
            </a: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C63E7-91F8-E05D-898F-E8A51AD78153}"/>
              </a:ext>
            </a:extLst>
          </p:cNvPr>
          <p:cNvSpPr txBox="1"/>
          <p:nvPr/>
        </p:nvSpPr>
        <p:spPr>
          <a:xfrm>
            <a:off x="6107788" y="1932709"/>
            <a:ext cx="5889080" cy="372711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Total Credit- ₹128M | Total Debit: </a:t>
            </a:r>
            <a:r>
              <a:rPr lang="en-IN" sz="2000" dirty="0">
                <a:solidFill>
                  <a:schemeClr val="accent4">
                    <a:lumMod val="75000"/>
                  </a:schemeClr>
                </a:solidFill>
              </a:rPr>
              <a:t>₹127M.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 Flow- </a:t>
            </a:r>
            <a:r>
              <a:rPr lang="en-IN" sz="2000" dirty="0">
                <a:solidFill>
                  <a:schemeClr val="accent4">
                    <a:lumMod val="75000"/>
                  </a:schemeClr>
                </a:solidFill>
              </a:rPr>
              <a:t>Positive balance of ₹318K.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High-Risk Transactions- </a:t>
            </a:r>
            <a:r>
              <a:rPr lang="en-IN" sz="2000" dirty="0">
                <a:solidFill>
                  <a:schemeClr val="accent4">
                    <a:lumMod val="75000"/>
                  </a:schemeClr>
                </a:solidFill>
              </a:rPr>
              <a:t>₹36M per branch flagged.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Suspicious Activity- </a:t>
            </a:r>
            <a:r>
              <a:rPr lang="en-IN" sz="2000" dirty="0">
                <a:solidFill>
                  <a:schemeClr val="accent4">
                    <a:lumMod val="75000"/>
                  </a:schemeClr>
                </a:solidFill>
              </a:rPr>
              <a:t>5K cases monthly.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Transaction Methods: </a:t>
            </a:r>
            <a:r>
              <a:rPr lang="en-IN" sz="2000" dirty="0">
                <a:solidFill>
                  <a:schemeClr val="accent4">
                    <a:lumMod val="75000"/>
                  </a:schemeClr>
                </a:solidFill>
              </a:rPr>
              <a:t>Evenly split across Credit, Debit, and Bank Transfer.</a:t>
            </a: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schemeClr val="accent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69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EEF8-89B1-C482-F556-08AB99FE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6C39-9DAE-8528-0592-61C8C9B92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Takeaways- Business Insights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E65927D9-1AEB-1095-2B01-934E4B19C7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D2BD3C3C-8DCA-C4E0-D8D8-E0C5AC86E6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D920B4-1A6C-8991-AE7D-0FF7B820B0AF}"/>
              </a:ext>
            </a:extLst>
          </p:cNvPr>
          <p:cNvSpPr txBox="1"/>
          <p:nvPr/>
        </p:nvSpPr>
        <p:spPr>
          <a:xfrm>
            <a:off x="980771" y="1488007"/>
            <a:ext cx="9347794" cy="439659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Client growth is steady, but retention strategies needed.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Loan defaults &amp; delays still pose a financial risk despite good recovery rates.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Certain branches consistently outperform others → potential to replicate best practices.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Balanced debit-credit ratio reflects healthy banking operations.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High-risk &amp; suspicious transactions need stronger fraud monitoring.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75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FA78-D9EB-2067-403B-F7B3258A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9769-E121-6FCA-4543-53ECADB6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12" y="209782"/>
            <a:ext cx="9222658" cy="824578"/>
          </a:xfrm>
        </p:spPr>
        <p:txBody>
          <a:bodyPr>
            <a:normAutofit/>
          </a:bodyPr>
          <a:lstStyle/>
          <a:p>
            <a:r>
              <a:rPr lang="en-US" sz="3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Biome" panose="020B0502040204020203" pitchFamily="34" charset="0"/>
              </a:rPr>
              <a:t>Takeaways- Challenges</a:t>
            </a:r>
          </a:p>
        </p:txBody>
      </p:sp>
      <p:pic>
        <p:nvPicPr>
          <p:cNvPr id="3" name="layoutShapeInnerChild7">
            <a:extLst>
              <a:ext uri="{FF2B5EF4-FFF2-40B4-BE49-F238E27FC236}">
                <a16:creationId xmlns:a16="http://schemas.microsoft.com/office/drawing/2014/main" id="{51C1C299-1D29-180F-3C21-444D036641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D447D3F8-93D1-453B-83F5-75E1A01F88BF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36724" y="3914111"/>
            <a:ext cx="1555276" cy="3235344"/>
          </a:xfrm>
          <a:prstGeom prst="rect">
            <a:avLst/>
          </a:prstGeom>
        </p:spPr>
      </p:pic>
      <p:pic>
        <p:nvPicPr>
          <p:cNvPr id="4" name="layoutShapeInnerChild9">
            <a:extLst>
              <a:ext uri="{FF2B5EF4-FFF2-40B4-BE49-F238E27FC236}">
                <a16:creationId xmlns:a16="http://schemas.microsoft.com/office/drawing/2014/main" id="{545FAD56-9838-1DBB-8863-91B0E01887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D28C7F6-BB24-4A95-BEB7-42B481537082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973400"/>
            <a:ext cx="980771" cy="25908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71BE2FB-6E22-AB70-EB35-12F0314E9351}"/>
              </a:ext>
            </a:extLst>
          </p:cNvPr>
          <p:cNvGrpSpPr/>
          <p:nvPr/>
        </p:nvGrpSpPr>
        <p:grpSpPr>
          <a:xfrm>
            <a:off x="413361" y="1667249"/>
            <a:ext cx="2622686" cy="4038897"/>
            <a:chOff x="939390" y="1942608"/>
            <a:chExt cx="2930013" cy="453685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D19C69-A45D-C907-E4AC-56E6A942F6E8}"/>
                </a:ext>
              </a:extLst>
            </p:cNvPr>
            <p:cNvCxnSpPr>
              <a:cxnSpLocks/>
            </p:cNvCxnSpPr>
            <p:nvPr/>
          </p:nvCxnSpPr>
          <p:spPr>
            <a:xfrm>
              <a:off x="2404396" y="1942608"/>
              <a:ext cx="0" cy="4536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0DC22C-EC91-D2D4-2CBE-0453B9D94769}"/>
                </a:ext>
              </a:extLst>
            </p:cNvPr>
            <p:cNvSpPr/>
            <p:nvPr/>
          </p:nvSpPr>
          <p:spPr>
            <a:xfrm>
              <a:off x="939390" y="2825306"/>
              <a:ext cx="2930013" cy="31428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Merging Excel datasets into SQL and building relationships was complex.</a:t>
              </a:r>
              <a:endParaRPr lang="en-US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052A8-5FF8-EB07-7750-4140D9B074EA}"/>
                </a:ext>
              </a:extLst>
            </p:cNvPr>
            <p:cNvSpPr txBox="1"/>
            <p:nvPr/>
          </p:nvSpPr>
          <p:spPr>
            <a:xfrm>
              <a:off x="939390" y="2308127"/>
              <a:ext cx="2930013" cy="726017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Century Gothic" panose="020B0502020202020204" pitchFamily="34" charset="0"/>
                </a:rPr>
                <a:t>Complex Data Preparation</a:t>
              </a:r>
              <a:endPara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F69857-2BA2-5591-FD47-8961765F5D11}"/>
              </a:ext>
            </a:extLst>
          </p:cNvPr>
          <p:cNvGrpSpPr/>
          <p:nvPr/>
        </p:nvGrpSpPr>
        <p:grpSpPr>
          <a:xfrm>
            <a:off x="3215667" y="1663951"/>
            <a:ext cx="2622686" cy="4038897"/>
            <a:chOff x="939390" y="1942608"/>
            <a:chExt cx="2930013" cy="453685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A6898FE-6A0A-C382-8454-9A1B61E7FF7A}"/>
                </a:ext>
              </a:extLst>
            </p:cNvPr>
            <p:cNvCxnSpPr>
              <a:cxnSpLocks/>
            </p:cNvCxnSpPr>
            <p:nvPr/>
          </p:nvCxnSpPr>
          <p:spPr>
            <a:xfrm>
              <a:off x="2404396" y="1942608"/>
              <a:ext cx="0" cy="4536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578B2C-AAB8-617E-4AFE-286EFE18E82C}"/>
                </a:ext>
              </a:extLst>
            </p:cNvPr>
            <p:cNvSpPr/>
            <p:nvPr/>
          </p:nvSpPr>
          <p:spPr>
            <a:xfrm>
              <a:off x="939390" y="2890086"/>
              <a:ext cx="2930013" cy="31428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Certain branches and client groups dominate while others lag — creating a challenge in ensuring balanced growth and fair benchmarking.</a:t>
              </a:r>
            </a:p>
            <a:p>
              <a:pPr algn="ctr"/>
              <a:endParaRPr lang="en-US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80370D-DADC-5FC3-F451-3CC640018707}"/>
                </a:ext>
              </a:extLst>
            </p:cNvPr>
            <p:cNvSpPr txBox="1"/>
            <p:nvPr/>
          </p:nvSpPr>
          <p:spPr>
            <a:xfrm>
              <a:off x="939390" y="2308127"/>
              <a:ext cx="2930013" cy="726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Century Gothic" panose="020B0502020202020204" pitchFamily="34" charset="0"/>
                </a:rPr>
                <a:t>Uneven Branch &amp; Client Performance</a:t>
              </a:r>
              <a:endPara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DD974D-284B-843C-1F37-D67EBF9A6EBF}"/>
              </a:ext>
            </a:extLst>
          </p:cNvPr>
          <p:cNvGrpSpPr/>
          <p:nvPr/>
        </p:nvGrpSpPr>
        <p:grpSpPr>
          <a:xfrm>
            <a:off x="6099520" y="1748562"/>
            <a:ext cx="2622686" cy="4038897"/>
            <a:chOff x="939390" y="1942608"/>
            <a:chExt cx="2930013" cy="453685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8B72FA-68CD-1068-EE43-AD9A6B2F7769}"/>
                </a:ext>
              </a:extLst>
            </p:cNvPr>
            <p:cNvCxnSpPr>
              <a:cxnSpLocks/>
            </p:cNvCxnSpPr>
            <p:nvPr/>
          </p:nvCxnSpPr>
          <p:spPr>
            <a:xfrm>
              <a:off x="2404396" y="1942608"/>
              <a:ext cx="0" cy="4536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35ACF50-0291-2C54-6015-BEC0901CDCDE}"/>
                </a:ext>
              </a:extLst>
            </p:cNvPr>
            <p:cNvSpPr/>
            <p:nvPr/>
          </p:nvSpPr>
          <p:spPr>
            <a:xfrm>
              <a:off x="939390" y="2825306"/>
              <a:ext cx="2930013" cy="31428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Although recovery is strong (87%), late repayments and default cases reduce profitability and increase financial risk.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92C661-9A4E-6C8C-113B-73B2E69EA8C9}"/>
                </a:ext>
              </a:extLst>
            </p:cNvPr>
            <p:cNvSpPr txBox="1"/>
            <p:nvPr/>
          </p:nvSpPr>
          <p:spPr>
            <a:xfrm>
              <a:off x="939390" y="2023052"/>
              <a:ext cx="2838900" cy="726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Century Gothic" panose="020B0502020202020204" pitchFamily="34" charset="0"/>
                </a:rPr>
                <a:t>Repayment &amp; Default Risks</a:t>
              </a:r>
              <a:endPara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711265-157F-C07B-4320-797F07D3959A}"/>
              </a:ext>
            </a:extLst>
          </p:cNvPr>
          <p:cNvGrpSpPr/>
          <p:nvPr/>
        </p:nvGrpSpPr>
        <p:grpSpPr>
          <a:xfrm>
            <a:off x="8983372" y="1409551"/>
            <a:ext cx="2622686" cy="4038897"/>
            <a:chOff x="939390" y="1942608"/>
            <a:chExt cx="2930013" cy="453685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6D962B-7604-AEE7-0D95-D15395C8AB91}"/>
                </a:ext>
              </a:extLst>
            </p:cNvPr>
            <p:cNvCxnSpPr>
              <a:cxnSpLocks/>
            </p:cNvCxnSpPr>
            <p:nvPr/>
          </p:nvCxnSpPr>
          <p:spPr>
            <a:xfrm>
              <a:off x="2404396" y="1942608"/>
              <a:ext cx="0" cy="45368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F8A102-1834-D479-98BD-C8582DF9936D}"/>
                </a:ext>
              </a:extLst>
            </p:cNvPr>
            <p:cNvSpPr/>
            <p:nvPr/>
          </p:nvSpPr>
          <p:spPr>
            <a:xfrm>
              <a:off x="939390" y="2825306"/>
              <a:ext cx="2930005" cy="343234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Large volumes of flagged transactions highlight a </a:t>
              </a:r>
              <a:r>
                <a:rPr lang="en-US" sz="1600" b="1" dirty="0"/>
                <a:t>challenge in fraud detection and monitoring</a:t>
              </a:r>
              <a:r>
                <a:rPr lang="en-US" sz="1600" dirty="0"/>
                <a:t>.</a:t>
              </a:r>
              <a:r>
                <a:rPr lang="en-US" sz="1600" dirty="0">
                  <a:latin typeface="Century Gothic" panose="020B0502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5373E0-5D4E-E081-A577-003F4FD58C01}"/>
                </a:ext>
              </a:extLst>
            </p:cNvPr>
            <p:cNvSpPr txBox="1"/>
            <p:nvPr/>
          </p:nvSpPr>
          <p:spPr>
            <a:xfrm>
              <a:off x="939390" y="2308127"/>
              <a:ext cx="2930013" cy="10371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Century Gothic" panose="020B0502020202020204" pitchFamily="34" charset="0"/>
                </a:rPr>
                <a:t>High-Risk &amp; Suspicious Transactions</a:t>
              </a:r>
              <a:endPara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8F09-56FB-561B-C002-2929C8FF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716" y="1582994"/>
            <a:ext cx="3765755" cy="2369574"/>
          </a:xfrm>
        </p:spPr>
        <p:txBody>
          <a:bodyPr>
            <a:normAutofit/>
          </a:bodyPr>
          <a:lstStyle/>
          <a:p>
            <a:r>
              <a:rPr lang="en-US" sz="48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57730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563</Words>
  <Application>Microsoft Office PowerPoint</Application>
  <PresentationFormat>Widescreen</PresentationFormat>
  <Paragraphs>80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Century Gothic</vt:lpstr>
      <vt:lpstr>IBM Plex Serif SemiBold</vt:lpstr>
      <vt:lpstr>Office Theme</vt:lpstr>
      <vt:lpstr>PowerPoint Presentation</vt:lpstr>
      <vt:lpstr>Group details </vt:lpstr>
      <vt:lpstr>Summary</vt:lpstr>
      <vt:lpstr>KPIs</vt:lpstr>
      <vt:lpstr>Excel Dashboard (1/2) </vt:lpstr>
      <vt:lpstr>Excel Dashboard (2/2)</vt:lpstr>
      <vt:lpstr>Tableau Dashboard (1/2)</vt:lpstr>
      <vt:lpstr>Tableau Dashboard (2/2)</vt:lpstr>
      <vt:lpstr>Power BI Dashboard (1/2)</vt:lpstr>
      <vt:lpstr>Power BI Dashboard (2/2)</vt:lpstr>
      <vt:lpstr>SQL Query</vt:lpstr>
      <vt:lpstr>Takeaways - KPIs</vt:lpstr>
      <vt:lpstr>Takeaways- Business Insights</vt:lpstr>
      <vt:lpstr>Takeaways- Challenges</vt:lpstr>
      <vt:lpstr>Thank You!</vt:lpstr>
    </vt:vector>
  </TitlesOfParts>
  <Company>Haefele SE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Sawant, Akshay</dc:creator>
  <cp:lastModifiedBy>Susmita Das</cp:lastModifiedBy>
  <cp:revision>13</cp:revision>
  <dcterms:created xsi:type="dcterms:W3CDTF">2025-08-08T08:50:29Z</dcterms:created>
  <dcterms:modified xsi:type="dcterms:W3CDTF">2025-09-14T03:34:01Z</dcterms:modified>
</cp:coreProperties>
</file>